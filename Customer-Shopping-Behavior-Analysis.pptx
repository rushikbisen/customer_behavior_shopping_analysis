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IBM Plex Sans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80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375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55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records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43375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955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columns tracked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43375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955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ratings imputed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800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381982"/>
            <a:ext cx="3978116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 (Age, Gender, Location)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 Purchases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32928" y="4800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32928" y="5381982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Item, Category, Amount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Season, Size, Color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Type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872067" y="4800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Behavior Metrics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2067" y="5381982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 Applied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 Code Used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3649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Python Data Preparation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structure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Cleaning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Handled missing values, standardized columns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to PostgreSQL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68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SQL Analysis: Revenue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114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Gender Revenue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463534"/>
            <a:ext cx="35015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$157,890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$75,191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727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2.1x more 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8114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 Group Revenue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4463534"/>
            <a:ext cx="35015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$62,143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Middle-aged: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$59,197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$55,978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Senior: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$55,763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6729" y="680918"/>
            <a:ext cx="5216604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Product Performance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6729" y="1620798"/>
            <a:ext cx="3745706" cy="2867978"/>
          </a:xfrm>
          <a:prstGeom prst="roundRect">
            <a:avLst>
              <a:gd name="adj" fmla="val 1091"/>
            </a:avLst>
          </a:prstGeom>
          <a:solidFill>
            <a:srgbClr val="484B51"/>
          </a:solidFill>
          <a:ln/>
        </p:spPr>
      </p:sp>
      <p:sp>
        <p:nvSpPr>
          <p:cNvPr id="5" name="Shape 2"/>
          <p:cNvSpPr/>
          <p:nvPr/>
        </p:nvSpPr>
        <p:spPr>
          <a:xfrm>
            <a:off x="6425327" y="1829395"/>
            <a:ext cx="625912" cy="625912"/>
          </a:xfrm>
          <a:prstGeom prst="roundRect">
            <a:avLst>
              <a:gd name="adj" fmla="val 14607622"/>
            </a:avLst>
          </a:prstGeom>
          <a:solidFill>
            <a:srgbClr val="FFBC8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491" y="2001560"/>
            <a:ext cx="281583" cy="281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5327" y="2647236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Top Rated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6425327" y="308836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Gloves (3.86 avg)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25327" y="352401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Sandals (3.84 avg)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25327" y="395966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 (3.82 avg)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154364" y="1620798"/>
            <a:ext cx="3745706" cy="2867978"/>
          </a:xfrm>
          <a:prstGeom prst="roundRect">
            <a:avLst>
              <a:gd name="adj" fmla="val 1091"/>
            </a:avLst>
          </a:prstGeom>
          <a:solidFill>
            <a:srgbClr val="484B51"/>
          </a:solidFill>
          <a:ln/>
        </p:spPr>
      </p:sp>
      <p:sp>
        <p:nvSpPr>
          <p:cNvPr id="12" name="Shape 8"/>
          <p:cNvSpPr/>
          <p:nvPr/>
        </p:nvSpPr>
        <p:spPr>
          <a:xfrm>
            <a:off x="10362962" y="1829395"/>
            <a:ext cx="625912" cy="625912"/>
          </a:xfrm>
          <a:prstGeom prst="roundRect">
            <a:avLst>
              <a:gd name="adj" fmla="val 14607622"/>
            </a:avLst>
          </a:prstGeom>
          <a:solidFill>
            <a:srgbClr val="FFBC8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5126" y="2001560"/>
            <a:ext cx="281583" cy="2815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62962" y="2647236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Most Discounted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10362962" y="308836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(50%)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362962" y="352401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Sneakers (49.66%)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362962" y="3959662"/>
            <a:ext cx="3328511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Coat (49.07%)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216729" y="4680704"/>
            <a:ext cx="7683341" cy="2867978"/>
          </a:xfrm>
          <a:prstGeom prst="roundRect">
            <a:avLst>
              <a:gd name="adj" fmla="val 1091"/>
            </a:avLst>
          </a:prstGeom>
          <a:solidFill>
            <a:srgbClr val="484B51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5327" y="4889302"/>
            <a:ext cx="625912" cy="625912"/>
          </a:xfrm>
          <a:prstGeom prst="roundRect">
            <a:avLst>
              <a:gd name="adj" fmla="val 14607622"/>
            </a:avLst>
          </a:prstGeom>
          <a:solidFill>
            <a:srgbClr val="FFBC8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7491" y="5061466"/>
            <a:ext cx="281583" cy="2815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5327" y="5707142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Best Sellers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6425327" y="6148268"/>
            <a:ext cx="726614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Blouse (171 orders)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25327" y="6583918"/>
            <a:ext cx="726614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Jewelry (171 orders)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25327" y="7019568"/>
            <a:ext cx="726614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Pants (171 orders)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54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Shipping &amp; Subscription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299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Shipping Comparison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282083"/>
            <a:ext cx="35015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$58.46 avg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$60.48 avg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29125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customers spend 3.5% more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62997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Subscription Impact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4282083"/>
            <a:ext cx="35015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1,053 customers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2,847 customers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565415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generated 2.7x more total revenue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6277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79%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18%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45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73498"/>
            <a:ext cx="7556421" cy="2252305"/>
          </a:xfrm>
          <a:prstGeom prst="roundRect">
            <a:avLst>
              <a:gd name="adj" fmla="val 1511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530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KPIs Tracked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021211"/>
            <a:ext cx="7041832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customers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$59.76 avg purchase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3.75 avg review rating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2252305"/>
          </a:xfrm>
          <a:prstGeom prst="roundRect">
            <a:avLst>
              <a:gd name="adj" fmla="val 1511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484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Visualizations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484" y="5500330"/>
            <a:ext cx="7041832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category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demographics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5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29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2590800"/>
            <a:ext cx="5921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Male customers drive 2.1x revenue vs. female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4768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6" name="Text 4"/>
          <p:cNvSpPr/>
          <p:nvPr/>
        </p:nvSpPr>
        <p:spPr>
          <a:xfrm>
            <a:off x="1530906" y="3554730"/>
            <a:ext cx="5987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Young adults generate highest revenue ($62K)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8" name="Text 6"/>
          <p:cNvSpPr/>
          <p:nvPr/>
        </p:nvSpPr>
        <p:spPr>
          <a:xfrm>
            <a:off x="1530906" y="4518660"/>
            <a:ext cx="67250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Express shipping correlates with 3.5% higher spend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4047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5482590"/>
            <a:ext cx="7096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839 customers use discounts but spend above average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3790" y="63686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2" name="Text 10"/>
          <p:cNvSpPr/>
          <p:nvPr/>
        </p:nvSpPr>
        <p:spPr>
          <a:xfrm>
            <a:off x="1530906" y="6446520"/>
            <a:ext cx="5128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97% of customers are loyal or returning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73197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for subscribers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139559"/>
            <a:ext cx="3564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move into "Loyal" segment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41935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139559"/>
            <a:ext cx="2991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boosts with margin control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and best-selling products in campaigns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2026-03-16T06:45:05Z</dcterms:created>
  <dcterms:modified xsi:type="dcterms:W3CDTF">2026-03-16T06:45:05Z</dcterms:modified>
</cp:coreProperties>
</file>